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822960" cy="822960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0" i="0">
                <a:solidFill>
                  <a:srgbClr val="0A0F17"/>
                </a:solidFill>
                <a:latin typeface="Calibri"/>
              </a:rPr>
              <a:t>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371600"/>
            <a:ext cx="8229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 i="0">
                <a:solidFill>
                  <a:srgbClr val="E6EEF7"/>
                </a:solidFill>
                <a:latin typeface="Century Schoolbook"/>
              </a:rPr>
              <a:t>MachineSense </a:t>
            </a:r>
            <a:r>
              <a:rPr sz="5200" b="1" i="0">
                <a:solidFill>
                  <a:srgbClr val="22D3EE"/>
                </a:solidFill>
                <a:latin typeface="Century Schoolbook"/>
              </a:rPr>
              <a:t>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1">
                <a:solidFill>
                  <a:srgbClr val="9AADC4"/>
                </a:solidFill>
                <a:latin typeface="Century Schoolbook"/>
              </a:rPr>
              <a:t>Explainable Industrial Intelligence for Indian Industry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B829C"/>
                </a:solidFill>
                <a:latin typeface="Calibri"/>
              </a:rPr>
              <a:t>Predictive maintenance · Digital-twin simulation · Energy optimization — powered by IoT and Explainable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26280"/>
            <a:ext cx="2514600" cy="1051560"/>
          </a:xfrm>
          <a:prstGeom prst="roundRect">
            <a:avLst>
              <a:gd name="adj" fmla="val 6000"/>
            </a:avLst>
          </a:prstGeom>
          <a:solidFill>
            <a:srgbClr val="0F172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681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2D3EE"/>
                </a:solidFill>
                <a:latin typeface="Century Schoolbook"/>
              </a:rPr>
              <a:t>SIH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3892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B829C"/>
                </a:solidFill>
                <a:latin typeface="Calibri"/>
              </a:rPr>
              <a:t>SOFTWARE EDITION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4526280"/>
            <a:ext cx="2514600" cy="1051560"/>
          </a:xfrm>
          <a:prstGeom prst="roundRect">
            <a:avLst>
              <a:gd name="adj" fmla="val 6000"/>
            </a:avLst>
          </a:prstGeom>
          <a:solidFill>
            <a:srgbClr val="0F172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4681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4D399"/>
                </a:solidFill>
                <a:latin typeface="Century Schoolbook"/>
              </a:rPr>
              <a:t>63M+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513892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B829C"/>
                </a:solidFill>
                <a:latin typeface="Calibri"/>
              </a:rPr>
              <a:t>FACTORIES &amp; WORKSHOPS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526280"/>
            <a:ext cx="2514600" cy="1051560"/>
          </a:xfrm>
          <a:prstGeom prst="roundRect">
            <a:avLst>
              <a:gd name="adj" fmla="val 6000"/>
            </a:avLst>
          </a:prstGeom>
          <a:solidFill>
            <a:srgbClr val="0F172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681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A78BFA"/>
                </a:solidFill>
                <a:latin typeface="Century Schoolbook"/>
              </a:rPr>
              <a:t>Industry 4.0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13892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B829C"/>
                </a:solidFill>
                <a:latin typeface="Calibri"/>
              </a:rPr>
              <a:t>DOMAIN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4526280"/>
            <a:ext cx="2514600" cy="1051560"/>
          </a:xfrm>
          <a:prstGeom prst="roundRect">
            <a:avLst>
              <a:gd name="adj" fmla="val 6000"/>
            </a:avLst>
          </a:prstGeom>
          <a:solidFill>
            <a:srgbClr val="0F172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468172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BBF24"/>
                </a:solidFill>
                <a:latin typeface="Century Schoolbook"/>
              </a:rPr>
              <a:t>Working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513892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6B829C"/>
                </a:solidFill>
                <a:latin typeface="Calibri"/>
              </a:rPr>
              <a:t>PROTOTYPE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172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829C"/>
                </a:solidFill>
                <a:latin typeface="Calibri"/>
              </a:rPr>
              <a:t>Smart India Hackathon 2026  ·  Industry 4.0 · AI · IoT · Digital Twin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43F5E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E6EEF7"/>
                </a:solidFill>
                <a:latin typeface="Century Schoolbook"/>
              </a:rPr>
              <a:t>Indian factories are flying blind on machine health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DC4"/>
                </a:solidFill>
                <a:latin typeface="Calibri"/>
              </a:rPr>
              <a:t>Small and medium manufacturers keep the country running — but can't afford the Industry 4.0 tools that prevent costly breakdowns.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697480"/>
            <a:ext cx="5120640" cy="1572768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990088"/>
            <a:ext cx="566928" cy="566928"/>
          </a:xfrm>
          <a:prstGeom prst="roundRect">
            <a:avLst>
              <a:gd name="adj" fmla="val 35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900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43F5E"/>
                </a:solidFill>
                <a:latin typeface="Calibr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95351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6EEF7"/>
                </a:solidFill>
                <a:latin typeface="Century Schoolbook"/>
              </a:rPr>
              <a:t>Unplanned Downtime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10712"/>
            <a:ext cx="3886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DC4"/>
                </a:solidFill>
                <a:latin typeface="Calibri"/>
              </a:rPr>
              <a:t>Sudden machine failures halt production lines with no warning, missing deadlines and orders.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697480"/>
            <a:ext cx="5120640" cy="1572768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2990088"/>
            <a:ext cx="566928" cy="566928"/>
          </a:xfrm>
          <a:prstGeom prst="roundRect">
            <a:avLst>
              <a:gd name="adj" fmla="val 35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99008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B923C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95351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6EEF7"/>
                </a:solidFill>
                <a:latin typeface="Century Schoolbook"/>
              </a:rPr>
              <a:t>High Maintenance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410712"/>
            <a:ext cx="3886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DC4"/>
                </a:solidFill>
                <a:latin typeface="Calibri"/>
              </a:rPr>
              <a:t>Reactive, fix-it-when-it-breaks maintenance is far costlier than planned intervention.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480560"/>
            <a:ext cx="5120640" cy="1572768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97280" y="4773168"/>
            <a:ext cx="566928" cy="566928"/>
          </a:xfrm>
          <a:prstGeom prst="roundRect">
            <a:avLst>
              <a:gd name="adj" fmla="val 35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7316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BBF24"/>
                </a:solidFill>
                <a:latin typeface="Calibri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73659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6EEF7"/>
                </a:solidFill>
                <a:latin typeface="Century Schoolbook"/>
              </a:rPr>
              <a:t>Energy Wastage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5193792"/>
            <a:ext cx="3886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DC4"/>
                </a:solidFill>
                <a:latin typeface="Calibri"/>
              </a:rPr>
              <a:t>Inefficient, ageing machines silently burn excess power — a cost few factories even measure.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480560"/>
            <a:ext cx="5120640" cy="1572768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37960" y="4773168"/>
            <a:ext cx="566928" cy="566928"/>
          </a:xfrm>
          <a:prstGeom prst="roundRect">
            <a:avLst>
              <a:gd name="adj" fmla="val 35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477316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A78BFA"/>
                </a:solidFill>
                <a:latin typeface="Calibri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73659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6EEF7"/>
                </a:solidFill>
                <a:latin typeface="Century Schoolbook"/>
              </a:rPr>
              <a:t>No Affordable Industry 4.0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5193792"/>
            <a:ext cx="38862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DC4"/>
                </a:solidFill>
                <a:latin typeface="Calibri"/>
              </a:rPr>
              <a:t>Existing predictive-maintenance suites are enterprise-priced and out of reach.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2D3EE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6EEF7"/>
                </a:solidFill>
                <a:latin typeface="Century Schoolbook"/>
              </a:rPr>
              <a:t>One affordable platform. Total machine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DC4"/>
                </a:solidFill>
                <a:latin typeface="Calibri"/>
              </a:rPr>
              <a:t>MachineSense AI attaches low-cost IoT sensors to any machine, streams the data to an AI engine, and turns it into a live </a:t>
            </a:r>
            <a:r>
              <a:rPr sz="1500" b="1" i="0">
                <a:solidFill>
                  <a:srgbClr val="22D3EE"/>
                </a:solidFill>
                <a:latin typeface="Calibri"/>
              </a:rPr>
              <a:t>Machine Health Score</a:t>
            </a:r>
            <a:r>
              <a:rPr sz="1500" b="0" i="0">
                <a:solidFill>
                  <a:srgbClr val="9AADC4"/>
                </a:solidFill>
                <a:latin typeface="Calibri"/>
              </a:rPr>
              <a:t>, failure predictions, energy insights and clear maintenance actions — validated in a digital twin before you 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33756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97280" y="3630168"/>
            <a:ext cx="603504" cy="6035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63016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A0F17"/>
                </a:solidFill>
                <a:latin typeface="Century Schoolbook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6EEF7"/>
                </a:solidFill>
                <a:latin typeface="Century Schoolbook"/>
              </a:rPr>
              <a:t>Sense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73752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DC4"/>
                </a:solidFill>
                <a:latin typeface="Calibri"/>
              </a:rPr>
              <a:t>Low-cost IoT sensors capture vibration, temperature, current, sound &amp; power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333756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822191" y="3630168"/>
            <a:ext cx="603504" cy="603504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22191" y="363016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A0F17"/>
                </a:solidFill>
                <a:latin typeface="Century Schoolbook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22191" y="43891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6EEF7"/>
                </a:solidFill>
                <a:latin typeface="Century Schoolbook"/>
              </a:rPr>
              <a:t>Analyse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1" y="4873752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DC4"/>
                </a:solidFill>
                <a:latin typeface="Calibri"/>
              </a:rPr>
              <a:t>AI scores health, detects anomalies and predicts remaining useful life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333756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47104" y="3630168"/>
            <a:ext cx="603504" cy="603504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7104" y="363016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A0F17"/>
                </a:solidFill>
                <a:latin typeface="Century Schoolbook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3891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6EEF7"/>
                </a:solidFill>
                <a:latin typeface="Century Schoolbook"/>
              </a:rPr>
              <a:t>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873752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DC4"/>
                </a:solidFill>
                <a:latin typeface="Calibri"/>
              </a:rPr>
              <a:t>Digital twin simulates the fix and its impact before any spanner is turned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333756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72016" y="3630168"/>
            <a:ext cx="603504" cy="60350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3630168"/>
            <a:ext cx="603504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0A0F17"/>
                </a:solidFill>
                <a:latin typeface="Century Schoolbook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438912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6EEF7"/>
                </a:solidFill>
                <a:latin typeface="Century Schoolbook"/>
              </a:rPr>
              <a:t>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4873752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DC4"/>
                </a:solidFill>
                <a:latin typeface="Calibri"/>
              </a:rPr>
              <a:t>Operators get prioritised, explainable maintenance &amp; energy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8BDF8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EF7"/>
                </a:solidFill>
                <a:latin typeface="Century Schoolbook"/>
              </a:rPr>
              <a:t>From factory floor to actionable insight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514600"/>
            <a:ext cx="1225296" cy="105156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122529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E6EEF7"/>
                </a:solidFill>
                <a:latin typeface="Calibri"/>
              </a:rPr>
              <a:t>Industrial
Machines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2514600"/>
            <a:ext cx="21945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75688" y="2514600"/>
            <a:ext cx="1225296" cy="105156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5688" y="2514600"/>
            <a:ext cx="122529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E6EEF7"/>
                </a:solidFill>
                <a:latin typeface="Calibri"/>
              </a:rPr>
              <a:t>IoT
Sensors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82696" y="2514600"/>
            <a:ext cx="21945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5576" y="2514600"/>
            <a:ext cx="1225296" cy="105156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2514600"/>
            <a:ext cx="122529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E6EEF7"/>
                </a:solidFill>
                <a:latin typeface="Calibri"/>
              </a:rPr>
              <a:t>Edge
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2514600"/>
            <a:ext cx="21945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55464" y="2514600"/>
            <a:ext cx="1225296" cy="105156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55464" y="2514600"/>
            <a:ext cx="122529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E6EEF7"/>
                </a:solidFill>
                <a:latin typeface="Calibri"/>
              </a:rPr>
              <a:t>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2514600"/>
            <a:ext cx="21945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2514600"/>
            <a:ext cx="1225296" cy="105156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5352" y="2514600"/>
            <a:ext cx="122529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E6EEF7"/>
                </a:solidFill>
                <a:latin typeface="Calibri"/>
              </a:rPr>
              <a:t>AI
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514600"/>
            <a:ext cx="21945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Calibr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2514600"/>
            <a:ext cx="1225296" cy="105156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514600"/>
            <a:ext cx="122529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E6EEF7"/>
                </a:solidFill>
                <a:latin typeface="Calibri"/>
              </a:rPr>
              <a:t>Digital
Twin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248" y="2514600"/>
            <a:ext cx="21945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5128" y="2514600"/>
            <a:ext cx="1225296" cy="105156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25128" y="2514600"/>
            <a:ext cx="122529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E6EEF7"/>
                </a:solidFill>
                <a:latin typeface="Calibri"/>
              </a:rPr>
              <a:t>Recommend-
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32136" y="2514600"/>
            <a:ext cx="21945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2D3EE"/>
                </a:solidFill>
                <a:latin typeface="Calibr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15016" y="2514600"/>
            <a:ext cx="1225296" cy="105156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15016" y="2514600"/>
            <a:ext cx="122529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E6EEF7"/>
                </a:solidFill>
                <a:latin typeface="Calibri"/>
              </a:rPr>
              <a:t>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114800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0F172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78992" y="4389120"/>
            <a:ext cx="566928" cy="566928"/>
          </a:xfrm>
          <a:prstGeom prst="roundRect">
            <a:avLst>
              <a:gd name="adj" fmla="val 35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389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2D3EE"/>
                </a:solidFill>
                <a:latin typeface="Calibri"/>
              </a:rPr>
              <a:t>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3891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EEF7"/>
                </a:solidFill>
                <a:latin typeface="Century Schoolbook"/>
              </a:rPr>
              <a:t>Edge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" y="4983480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DC4"/>
                </a:solidFill>
                <a:latin typeface="Calibri"/>
              </a:rPr>
              <a:t>Sensors + ESP32 gateway pre-process signals on-site for low latency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4114800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0F172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90872" y="4389120"/>
            <a:ext cx="566928" cy="566928"/>
          </a:xfrm>
          <a:prstGeom prst="roundRect">
            <a:avLst>
              <a:gd name="adj" fmla="val 35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90872" y="4389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A78BFA"/>
                </a:solidFill>
                <a:latin typeface="Calibri"/>
              </a:rPr>
              <a:t>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80" y="43891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EEF7"/>
                </a:solidFill>
                <a:latin typeface="Century Schoolbook"/>
              </a:rPr>
              <a:t>Cloud +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0872" y="4983480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DC4"/>
                </a:solidFill>
                <a:latin typeface="Calibri"/>
              </a:rPr>
              <a:t>Time-series models score health, flag anomalies and forecast failures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114800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0F172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302752" y="4389120"/>
            <a:ext cx="566928" cy="566928"/>
          </a:xfrm>
          <a:prstGeom prst="roundRect">
            <a:avLst>
              <a:gd name="adj" fmla="val 35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2" y="4389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4D399"/>
                </a:solidFill>
                <a:latin typeface="Calibri"/>
              </a:rPr>
              <a:t>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43891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EEF7"/>
                </a:solidFill>
                <a:latin typeface="Century Schoolbook"/>
              </a:rPr>
              <a:t>Decision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2" y="4983480"/>
            <a:ext cx="29260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DC4"/>
                </a:solidFill>
                <a:latin typeface="Calibri"/>
              </a:rPr>
              <a:t>Digital twin validates actions; dashboard delivers explainable guidance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4D399"/>
                </a:solidFill>
                <a:latin typeface="Calibri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EF7"/>
                </a:solidFill>
                <a:latin typeface="Century Schoolbook"/>
              </a:rPr>
              <a:t>Six capabilities, one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2423160"/>
            <a:ext cx="566928" cy="566928"/>
          </a:xfrm>
          <a:prstGeom prst="roundRect">
            <a:avLst>
              <a:gd name="adj" fmla="val 35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2D3EE"/>
                </a:solidFill>
                <a:latin typeface="Calibri"/>
              </a:rPr>
              <a:t>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81528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EEF7"/>
                </a:solidFill>
                <a:latin typeface="Century Schoolbook"/>
              </a:rPr>
              <a:t>Real-time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747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DC4"/>
                </a:solidFill>
                <a:latin typeface="Calibri"/>
              </a:rPr>
              <a:t>Continuous IoT streaming of every critical sensor across the fleet.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214884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27448" y="2423160"/>
            <a:ext cx="566928" cy="566928"/>
          </a:xfrm>
          <a:prstGeom prst="roundRect">
            <a:avLst>
              <a:gd name="adj" fmla="val 35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4231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8BDF8"/>
                </a:solidFill>
                <a:latin typeface="Calibri"/>
              </a:rPr>
              <a:t>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081528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EEF7"/>
                </a:solidFill>
                <a:latin typeface="Century Schoolbook"/>
              </a:rPr>
              <a:t>Predictive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4747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DC4"/>
                </a:solidFill>
                <a:latin typeface="Calibri"/>
              </a:rPr>
              <a:t>Remaining-useful-life &amp; failure-risk forecasts from live degradation trends.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14884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57616" y="2423160"/>
            <a:ext cx="566928" cy="566928"/>
          </a:xfrm>
          <a:prstGeom prst="roundRect">
            <a:avLst>
              <a:gd name="adj" fmla="val 35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24231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A78BFA"/>
                </a:solidFill>
                <a:latin typeface="Calibri"/>
              </a:rPr>
              <a:t>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3081528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EEF7"/>
                </a:solidFill>
                <a:latin typeface="Century Schoolbook"/>
              </a:rPr>
              <a:t>Explainable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4747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DC4"/>
                </a:solidFill>
                <a:latin typeface="Calibri"/>
              </a:rPr>
              <a:t>Every score broken down by sensor with plain-language root-cause reasoning.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06908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97280" y="4343400"/>
            <a:ext cx="566928" cy="566928"/>
          </a:xfrm>
          <a:prstGeom prst="roundRect">
            <a:avLst>
              <a:gd name="adj" fmla="val 35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434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34D399"/>
                </a:solidFill>
                <a:latin typeface="Calibri"/>
              </a:rPr>
              <a:t>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01768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EEF7"/>
                </a:solidFill>
                <a:latin typeface="Century Schoolbook"/>
              </a:rPr>
              <a:t>Energy 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3949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DC4"/>
                </a:solidFill>
                <a:latin typeface="Calibri"/>
              </a:rPr>
              <a:t>Detects waste and quantifies recoverable cost and CO₂ across machines.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8" y="406908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27448" y="4343400"/>
            <a:ext cx="566928" cy="566928"/>
          </a:xfrm>
          <a:prstGeom prst="roundRect">
            <a:avLst>
              <a:gd name="adj" fmla="val 35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27448" y="43434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7448" y="5001768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EEF7"/>
                </a:solidFill>
                <a:latin typeface="Century Schoolbook"/>
              </a:rPr>
              <a:t>Digital Twin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53949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DC4"/>
                </a:solidFill>
                <a:latin typeface="Calibri"/>
              </a:rPr>
              <a:t>Validate maintenance actions in simulation before touching the real asset.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3296" y="406908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57616" y="4343400"/>
            <a:ext cx="566928" cy="566928"/>
          </a:xfrm>
          <a:prstGeom prst="roundRect">
            <a:avLst>
              <a:gd name="adj" fmla="val 35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6" y="43434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43F5E"/>
                </a:solidFill>
                <a:latin typeface="Calibri"/>
              </a:rPr>
              <a:t>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5001768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EEF7"/>
                </a:solidFill>
                <a:latin typeface="Century Schoolbook"/>
              </a:rPr>
              <a:t>Smart Alerts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53949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DC4"/>
                </a:solidFill>
                <a:latin typeface="Calibri"/>
              </a:rPr>
              <a:t>Robust anomaly detection flags issues the moment behaviour deviates.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A78BFA"/>
                </a:solidFill>
                <a:latin typeface="Calibri"/>
              </a:rPr>
              <a:t>WHY WE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EF7"/>
                </a:solidFill>
                <a:latin typeface="Century Schoolbook"/>
              </a:rPr>
              <a:t>What makes MachineSense AI different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5257800" cy="356616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468880"/>
            <a:ext cx="685800" cy="685800"/>
          </a:xfrm>
          <a:prstGeom prst="roundRect">
            <a:avLst>
              <a:gd name="adj" fmla="val 35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688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A78BFA"/>
                </a:solidFill>
                <a:latin typeface="Calibri"/>
              </a:rPr>
              <a:t>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51460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6EEF7"/>
                </a:solidFill>
                <a:latin typeface="Century Schoolbook"/>
              </a:rPr>
              <a:t>Explainable, not a black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383280"/>
            <a:ext cx="4663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DC4"/>
                </a:solidFill>
                <a:latin typeface="Calibri"/>
              </a:rPr>
              <a:t>Most AI tools output a number you must trust blindly. We show </a:t>
            </a:r>
            <a:r>
              <a:rPr sz="1300" b="1" i="0">
                <a:solidFill>
                  <a:srgbClr val="22D3EE"/>
                </a:solidFill>
                <a:latin typeface="Calibri"/>
              </a:rPr>
              <a:t>exactly which sensor drove the score</a:t>
            </a:r>
            <a:r>
              <a:rPr sz="1300" b="0" i="0">
                <a:solidFill>
                  <a:srgbClr val="9AADC4"/>
                </a:solidFill>
                <a:latin typeface="Calibri"/>
              </a:rPr>
              <a:t> and why — in plain English.</a:t>
            </a:r>
          </a:p>
          <a:p>
            <a:pPr algn="l">
              <a:lnSpc>
                <a:spcPct val="115000"/>
              </a:lnSpc>
            </a:pPr>
            <a:r>
              <a:rPr sz="600" b="0" i="0">
                <a:solidFill>
                  <a:srgbClr val="E6EEF7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EF7"/>
                </a:solidFill>
                <a:latin typeface="Calibri"/>
              </a:rPr>
              <a:t>• Per-sensor health-impact breakdown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EF7"/>
                </a:solidFill>
                <a:latin typeface="Calibri"/>
              </a:rPr>
              <a:t>• Human-readable root-cause reasoning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EF7"/>
                </a:solidFill>
                <a:latin typeface="Calibri"/>
              </a:rPr>
              <a:t>• Prioritised, actionable recommendations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EF7"/>
                </a:solidFill>
                <a:latin typeface="Calibri"/>
              </a:rPr>
              <a:t>• Builds operator trust and adoption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48840"/>
            <a:ext cx="5257800" cy="356616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2468880"/>
            <a:ext cx="685800" cy="685800"/>
          </a:xfrm>
          <a:prstGeom prst="roundRect">
            <a:avLst>
              <a:gd name="adj" fmla="val 35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BBF24"/>
                </a:solidFill>
                <a:latin typeface="Calibri"/>
              </a:rPr>
              <a:t>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514600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E6EEF7"/>
                </a:solidFill>
                <a:latin typeface="Century Schoolbook"/>
              </a:rPr>
              <a:t>Digital twin de-risks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383280"/>
            <a:ext cx="46634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9AADC4"/>
                </a:solidFill>
                <a:latin typeface="Calibri"/>
              </a:rPr>
              <a:t>Before spending on a repair, simulate it. The twin projects the </a:t>
            </a:r>
            <a:r>
              <a:rPr sz="1300" b="1" i="0">
                <a:solidFill>
                  <a:srgbClr val="FBBF24"/>
                </a:solidFill>
                <a:latin typeface="Calibri"/>
              </a:rPr>
              <a:t>health, life and energy impact</a:t>
            </a:r>
            <a:r>
              <a:rPr sz="1300" b="0" i="0">
                <a:solidFill>
                  <a:srgbClr val="9AADC4"/>
                </a:solidFill>
                <a:latin typeface="Calibri"/>
              </a:rPr>
              <a:t> of each action.</a:t>
            </a:r>
          </a:p>
          <a:p>
            <a:pPr algn="l">
              <a:lnSpc>
                <a:spcPct val="115000"/>
              </a:lnSpc>
            </a:pPr>
            <a:r>
              <a:rPr sz="600" b="0" i="0">
                <a:solidFill>
                  <a:srgbClr val="E6EEF7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EF7"/>
                </a:solidFill>
                <a:latin typeface="Calibri"/>
              </a:rPr>
              <a:t>• Test 'what-if' fixes with zero risk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EF7"/>
                </a:solidFill>
                <a:latin typeface="Calibri"/>
              </a:rPr>
              <a:t>• Compare before / after outcomes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EF7"/>
                </a:solidFill>
                <a:latin typeface="Calibri"/>
              </a:rPr>
              <a:t>• Avoid unnecessary maintenance spend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6EEF7"/>
                </a:solidFill>
                <a:latin typeface="Calibri"/>
              </a:rPr>
              <a:t>• Quantify ROI of every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9893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B829C"/>
                </a:solidFill>
                <a:latin typeface="Calibri"/>
              </a:rPr>
              <a:t>Affordable · India-first · Explainable · Twin-validated — an integrated platform, not a point tool.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2D3EE"/>
                </a:solidFill>
                <a:latin typeface="Calibri"/>
              </a:rPr>
              <a:t>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EF7"/>
                </a:solidFill>
                <a:latin typeface="Century Schoolbook"/>
              </a:rPr>
              <a:t>Built on a modern, scalable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94560"/>
            <a:ext cx="3383280" cy="370332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87168"/>
            <a:ext cx="365760" cy="3657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46887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6EEF7"/>
                </a:solidFill>
                <a:latin typeface="Century Schoolbook"/>
              </a:rPr>
              <a:t>Hardware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461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461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DC4"/>
                </a:solidFill>
                <a:latin typeface="Calibri"/>
              </a:rPr>
              <a:t>ESP32 microcontroller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758183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58183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DC4"/>
                </a:solidFill>
                <a:latin typeface="Calibri"/>
              </a:rPr>
              <a:t>Vibration sensor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27024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27024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DC4"/>
                </a:solidFill>
                <a:latin typeface="Calibri"/>
              </a:rPr>
              <a:t>Current sensor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78231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7823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DC4"/>
                </a:solidFill>
                <a:latin typeface="Calibri"/>
              </a:rPr>
              <a:t>Sound sensor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294376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2D3EE"/>
                </a:solidFill>
                <a:latin typeface="Calibri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29437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DC4"/>
                </a:solidFill>
                <a:latin typeface="Calibri"/>
              </a:rPr>
              <a:t>Temperature sensor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194560"/>
            <a:ext cx="3383280" cy="370332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709160" y="2487168"/>
            <a:ext cx="365760" cy="3657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0" y="246887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6EEF7"/>
                </a:solidFill>
                <a:latin typeface="Century Schoolbook"/>
              </a:rPr>
              <a:t>Software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2461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2461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DC4"/>
                </a:solidFill>
                <a:latin typeface="Calibri"/>
              </a:rPr>
              <a:t>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758183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758183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DC4"/>
                </a:solidFill>
                <a:latin typeface="Calibri"/>
              </a:rPr>
              <a:t>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27024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427024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DC4"/>
                </a:solidFill>
                <a:latin typeface="Calibri"/>
              </a:rPr>
              <a:t>React frontend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78231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7823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DC4"/>
                </a:solidFill>
                <a:latin typeface="Calibri"/>
              </a:rPr>
              <a:t>PostgreSQL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294376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4D399"/>
                </a:solidFill>
                <a:latin typeface="Calibri"/>
              </a:rP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529437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DC4"/>
                </a:solidFill>
                <a:latin typeface="Calibri"/>
              </a:rPr>
              <a:t>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2194560"/>
            <a:ext cx="3383280" cy="370332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21040" y="2487168"/>
            <a:ext cx="365760" cy="36576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246887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6EEF7"/>
                </a:solidFill>
                <a:latin typeface="Century Schoolbook"/>
              </a:rPr>
              <a:t>AI /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246120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78BFA"/>
                </a:solidFill>
                <a:latin typeface="Calibri"/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32461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DC4"/>
                </a:solidFill>
                <a:latin typeface="Calibri"/>
              </a:rPr>
              <a:t>Time-series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758183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78BFA"/>
                </a:solidFill>
                <a:latin typeface="Calibri"/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3758183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DC4"/>
                </a:solidFill>
                <a:latin typeface="Calibri"/>
              </a:rPr>
              <a:t>Anomaly detection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270248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78BFA"/>
                </a:solidFill>
                <a:latin typeface="Calibri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427024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DC4"/>
                </a:solidFill>
                <a:latin typeface="Calibri"/>
              </a:rPr>
              <a:t>ML health scoring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782312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78BFA"/>
                </a:solidFill>
                <a:latin typeface="Calibri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2520" y="47823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DC4"/>
                </a:solidFill>
                <a:latin typeface="Calibri"/>
              </a:rPr>
              <a:t>RUL prediction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294376"/>
            <a:ext cx="27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A78BFA"/>
                </a:solidFill>
                <a:latin typeface="Calibri"/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529437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DC4"/>
                </a:solidFill>
                <a:latin typeface="Calibri"/>
              </a:rPr>
              <a:t>Digital-twin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2286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34D399"/>
                </a:solidFill>
                <a:latin typeface="Calibri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EF7"/>
                </a:solidFill>
                <a:latin typeface="Century Schoolbook"/>
              </a:rPr>
              <a:t>A vast, underserved market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4028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0F172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56032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2D3EE"/>
                </a:solidFill>
                <a:latin typeface="Century Schoolbook"/>
              </a:rPr>
              <a:t>63M+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DC4"/>
                </a:solidFill>
                <a:latin typeface="Calibri"/>
              </a:rPr>
              <a:t>factories &amp; workshops seeking
affordable digitisation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24028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0F172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56032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4D399"/>
                </a:solidFill>
                <a:latin typeface="Century Schoolbook"/>
              </a:rPr>
              <a:t>~30%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3832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DC4"/>
                </a:solidFill>
                <a:latin typeface="Calibri"/>
              </a:rPr>
              <a:t>typical downtime reduction
from predictive maintenance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240280"/>
            <a:ext cx="3383280" cy="1920240"/>
          </a:xfrm>
          <a:prstGeom prst="roundRect">
            <a:avLst>
              <a:gd name="adj" fmla="val 6000"/>
            </a:avLst>
          </a:prstGeom>
          <a:solidFill>
            <a:srgbClr val="0F172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56032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BBF24"/>
                </a:solidFill>
                <a:latin typeface="Century Schoolbook"/>
              </a:rPr>
              <a:t>10-20%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38328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DC4"/>
                </a:solidFill>
                <a:latin typeface="Calibri"/>
              </a:rPr>
              <a:t>energy savings unlocked
by continuous optimization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34840"/>
            <a:ext cx="10789920" cy="160020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663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6EEF7"/>
                </a:solidFill>
                <a:latin typeface="Century Schoolbook"/>
              </a:rPr>
              <a:t>Go-to-market: SaaS subscription + optional hardware kit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212080"/>
            <a:ext cx="10241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DC4"/>
                </a:solidFill>
                <a:latin typeface="Calibri"/>
              </a:rPr>
              <a:t>A low monthly per-machine fee makes advanced intelligence accessible, with hardware kits and onboarding support as add-ons. Land with one line, expand across the factory — and across a manufacturing cluster.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463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2D3EE"/>
                </a:solidFill>
                <a:latin typeface="Calibri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EF7"/>
                </a:solidFill>
                <a:latin typeface="Century Schoolbook"/>
              </a:rPr>
              <a:t>Measurable outcomes for every factory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4D399"/>
                </a:solidFill>
                <a:latin typeface="Calibri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5973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6EEF7"/>
                </a:solidFill>
                <a:latin typeface="Century Schoolbook"/>
              </a:rPr>
              <a:t>Reduce Downtime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0896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DC4"/>
                </a:solidFill>
                <a:latin typeface="Calibri"/>
              </a:rPr>
              <a:t>Catch failures before they happen and schedule fixes in planned windows.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214884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7448" y="2423160"/>
            <a:ext cx="548640" cy="548640"/>
          </a:xfrm>
          <a:prstGeom prst="ellipse">
            <a:avLst/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22D3EE"/>
                </a:solidFill>
                <a:latin typeface="Calibri"/>
              </a:rPr>
              <a:t>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8968" y="245973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6EEF7"/>
                </a:solidFill>
                <a:latin typeface="Century Schoolbook"/>
              </a:rPr>
              <a:t>Lower Maintenance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10896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DC4"/>
                </a:solidFill>
                <a:latin typeface="Calibri"/>
              </a:rPr>
              <a:t>Shift from reactive to predictive — fix only what needs fixing, when it needs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214884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57616" y="2423160"/>
            <a:ext cx="548640" cy="548640"/>
          </a:xfrm>
          <a:prstGeom prst="ellipse">
            <a:avLst/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BBF24"/>
                </a:solidFill>
                <a:latin typeface="Calibri"/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245973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6EEF7"/>
                </a:solidFill>
                <a:latin typeface="Century Schoolbook"/>
              </a:rPr>
              <a:t>Cut Energy Bills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10896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DC4"/>
                </a:solidFill>
                <a:latin typeface="Calibri"/>
              </a:rPr>
              <a:t>Surface hidden waste and recover a measurable slice of monthly power spend.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06908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97280" y="4343400"/>
            <a:ext cx="548640" cy="548640"/>
          </a:xfrm>
          <a:prstGeom prst="ellipse">
            <a:avLst/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434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A78BFA"/>
                </a:solidFill>
                <a:latin typeface="Calibri"/>
              </a:rPr>
              <a:t>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37997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6EEF7"/>
                </a:solidFill>
                <a:latin typeface="Century Schoolbook"/>
              </a:rPr>
              <a:t>Extend Equipment Life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2920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DC4"/>
                </a:solidFill>
                <a:latin typeface="Calibri"/>
              </a:rPr>
              <a:t>Reduce stress on assets and defer costly capital replacement.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8" y="406908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27448" y="4343400"/>
            <a:ext cx="548640" cy="548640"/>
          </a:xfrm>
          <a:prstGeom prst="ellipse">
            <a:avLst/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27448" y="43434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8BDF8"/>
                </a:solidFill>
                <a:latin typeface="Calibri"/>
              </a:rPr>
              <a:t>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8968" y="437997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6EEF7"/>
                </a:solidFill>
                <a:latin typeface="Century Schoolbook"/>
              </a:rPr>
              <a:t>Boost Productivity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7448" y="502920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DC4"/>
                </a:solidFill>
                <a:latin typeface="Calibri"/>
              </a:rPr>
              <a:t>Keep lines running and quality high with always-on machine intelligence.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3296" y="4069080"/>
            <a:ext cx="3520440" cy="178308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57616" y="4343400"/>
            <a:ext cx="548640" cy="548640"/>
          </a:xfrm>
          <a:prstGeom prst="ellipse">
            <a:avLst/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6" y="434340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34D399"/>
                </a:solidFill>
                <a:latin typeface="Calibri"/>
              </a:rPr>
              <a:t>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89136" y="4379976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E6EEF7"/>
                </a:solidFill>
                <a:latin typeface="Century Schoolbook"/>
              </a:rPr>
              <a:t>Improve Sustainability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502920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DC4"/>
                </a:solidFill>
                <a:latin typeface="Calibri"/>
              </a:rPr>
              <a:t>Lower energy use and CO₂ — good for cost and for compliance.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4008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24688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BBF24"/>
                </a:solidFill>
                <a:latin typeface="Calibri"/>
              </a:rPr>
              <a:t>INVESTMENT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6EEF7"/>
                </a:solidFill>
                <a:latin typeface="Century Schoolbook"/>
              </a:rPr>
              <a:t>₹19.8 Lakh to a market-ready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6035040" cy="3977639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EEF7"/>
                </a:solidFill>
                <a:latin typeface="Century Schoolbook"/>
              </a:rPr>
              <a:t>Estimated Project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16352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6EEF7"/>
                </a:solidFill>
                <a:latin typeface="Calibri"/>
              </a:rPr>
              <a:t>AI Research &amp; Model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28163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22D3EE"/>
                </a:solidFill>
                <a:latin typeface="Calibri"/>
              </a:rPr>
              <a:t>₹3,50,000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090672"/>
            <a:ext cx="5577840" cy="91440"/>
          </a:xfrm>
          <a:prstGeom prst="rect">
            <a:avLst/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97280" y="3090672"/>
            <a:ext cx="4880609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273552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6EEF7"/>
                </a:solidFill>
                <a:latin typeface="Calibri"/>
              </a:rPr>
              <a:t>Software Development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32735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34D399"/>
                </a:solidFill>
                <a:latin typeface="Calibri"/>
              </a:rPr>
              <a:t>₹4,00,000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547872"/>
            <a:ext cx="5577840" cy="91440"/>
          </a:xfrm>
          <a:prstGeom prst="rect">
            <a:avLst/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3547872"/>
            <a:ext cx="5577840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730752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6EEF7"/>
                </a:solidFill>
                <a:latin typeface="Calibri"/>
              </a:rPr>
              <a:t>IoT Sensors &amp; Prototype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7307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38BDF8"/>
                </a:solidFill>
                <a:latin typeface="Calibri"/>
              </a:rPr>
              <a:t>₹2,50,000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005072"/>
            <a:ext cx="5577840" cy="91440"/>
          </a:xfrm>
          <a:prstGeom prst="rect">
            <a:avLst/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4005072"/>
            <a:ext cx="3486150" cy="9144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187952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6EEF7"/>
                </a:solidFill>
                <a:latin typeface="Calibri"/>
              </a:rPr>
              <a:t>Digital Twin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41879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A78BFA"/>
                </a:solidFill>
                <a:latin typeface="Calibri"/>
              </a:rPr>
              <a:t>₹2,00,000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462272"/>
            <a:ext cx="5577840" cy="91440"/>
          </a:xfrm>
          <a:prstGeom prst="rect">
            <a:avLst/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97280" y="4462272"/>
            <a:ext cx="2788920" cy="9144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645152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6EEF7"/>
                </a:solidFill>
                <a:latin typeface="Calibri"/>
              </a:rPr>
              <a:t>Contingency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46451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6B829C"/>
                </a:solidFill>
                <a:latin typeface="Calibri"/>
              </a:rPr>
              <a:t>₹2,00,000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4919472"/>
            <a:ext cx="5577840" cy="91440"/>
          </a:xfrm>
          <a:prstGeom prst="rect">
            <a:avLst/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4919472"/>
            <a:ext cx="2788920" cy="91440"/>
          </a:xfrm>
          <a:prstGeom prst="rect">
            <a:avLst/>
          </a:prstGeom>
          <a:solidFill>
            <a:srgbClr val="6B8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102352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E6EEF7"/>
                </a:solidFill>
                <a:latin typeface="Calibri"/>
              </a:rPr>
              <a:t>Testing, Cloud, UI/UX &amp; Other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5102352"/>
            <a:ext cx="1097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9AADC4"/>
                </a:solidFill>
                <a:latin typeface="Calibri"/>
              </a:rPr>
              <a:t>₹5,80,000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5376672"/>
            <a:ext cx="5577840" cy="91440"/>
          </a:xfrm>
          <a:prstGeom prst="rect">
            <a:avLst/>
          </a:prstGeom>
          <a:solidFill>
            <a:srgbClr val="1B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7280" y="5376672"/>
            <a:ext cx="8087867" cy="91440"/>
          </a:xfrm>
          <a:prstGeom prst="rect">
            <a:avLst/>
          </a:prstGeom>
          <a:solidFill>
            <a:srgbClr val="9AA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55955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E6EEF7"/>
                </a:solidFill>
                <a:latin typeface="Calibri"/>
              </a:rPr>
              <a:t>Total   </a:t>
            </a:r>
            <a:r>
              <a:rPr sz="1500" b="1" i="0">
                <a:solidFill>
                  <a:srgbClr val="FBBF24"/>
                </a:solidFill>
                <a:latin typeface="Century Schoolbook"/>
              </a:rPr>
              <a:t>₹19,80,000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2103120"/>
            <a:ext cx="4572000" cy="3977639"/>
          </a:xfrm>
          <a:prstGeom prst="roundRect">
            <a:avLst>
              <a:gd name="adj" fmla="val 6000"/>
            </a:avLst>
          </a:prstGeom>
          <a:solidFill>
            <a:srgbClr val="0F172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228600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6EEF7"/>
                </a:solidFill>
                <a:latin typeface="Century Schoolbook"/>
              </a:rPr>
              <a:t>Roadmap &amp; Future Scope</a:t>
            </a:r>
          </a:p>
        </p:txBody>
      </p:sp>
      <p:sp>
        <p:nvSpPr>
          <p:cNvPr id="35" name="Oval 34"/>
          <p:cNvSpPr/>
          <p:nvPr/>
        </p:nvSpPr>
        <p:spPr>
          <a:xfrm>
            <a:off x="7315200" y="2971800"/>
            <a:ext cx="219456" cy="21945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290779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6EEF7"/>
                </a:solidFill>
                <a:latin typeface="Century Schoolbook"/>
              </a:rPr>
              <a:t>Now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3227832"/>
            <a:ext cx="3749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DC4"/>
                </a:solidFill>
                <a:latin typeface="Calibri"/>
              </a:rPr>
              <a:t>Working prototype: dashboard, AI engine, digital twin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0" y="3758184"/>
            <a:ext cx="219456" cy="219456"/>
          </a:xfrm>
          <a:prstGeom prst="ellipse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3694176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6EEF7"/>
                </a:solidFill>
                <a:latin typeface="Century Schoolbook"/>
              </a:rPr>
              <a:t>Next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4014216"/>
            <a:ext cx="3749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DC4"/>
                </a:solidFill>
                <a:latin typeface="Calibri"/>
              </a:rPr>
              <a:t>Field pilots with industry partners, hardware kit, mobile app</a:t>
            </a:r>
          </a:p>
        </p:txBody>
      </p:sp>
      <p:sp>
        <p:nvSpPr>
          <p:cNvPr id="41" name="Oval 40"/>
          <p:cNvSpPr/>
          <p:nvPr/>
        </p:nvSpPr>
        <p:spPr>
          <a:xfrm>
            <a:off x="7315200" y="4544568"/>
            <a:ext cx="219456" cy="219456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80960" y="44805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6EEF7"/>
                </a:solidFill>
                <a:latin typeface="Century Schoolbook"/>
              </a:rPr>
              <a:t>Later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800600"/>
            <a:ext cx="3749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DC4"/>
                </a:solidFill>
                <a:latin typeface="Calibri"/>
              </a:rPr>
              <a:t>Robotics integration, voice assistant, autonomous scheduling</a:t>
            </a:r>
          </a:p>
        </p:txBody>
      </p:sp>
      <p:sp>
        <p:nvSpPr>
          <p:cNvPr id="44" name="Oval 43"/>
          <p:cNvSpPr/>
          <p:nvPr/>
        </p:nvSpPr>
        <p:spPr>
          <a:xfrm>
            <a:off x="7315200" y="5330952"/>
            <a:ext cx="219456" cy="21945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526694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6EEF7"/>
                </a:solidFill>
                <a:latin typeface="Century Schoolbook"/>
              </a:rPr>
              <a:t>Vision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5586984"/>
            <a:ext cx="37490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9AADC4"/>
                </a:solidFill>
                <a:latin typeface="Calibri"/>
              </a:rPr>
              <a:t>Federated learning across factories &amp; clusters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554480"/>
            <a:ext cx="777240" cy="777240"/>
          </a:xfrm>
          <a:prstGeom prst="roundRect">
            <a:avLst>
              <a:gd name="adj" fmla="val 6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0" i="0">
                <a:solidFill>
                  <a:srgbClr val="0A0F17"/>
                </a:solidFill>
                <a:latin typeface="Calibri"/>
              </a:rPr>
              <a:t>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81328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E6EEF7"/>
                </a:solidFill>
                <a:latin typeface="Century Schoolbook"/>
              </a:rPr>
              <a:t>Making Industry 4.0 affordable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2D3EE"/>
                </a:solidFill>
                <a:latin typeface="Century Schoolbook"/>
              </a:rPr>
              <a:t>for every Indian factory.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AADC4"/>
                </a:solidFill>
                <a:latin typeface="Calibri"/>
              </a:rPr>
              <a:t>MachineSense AI turns low-cost sensors into predictive, explainable, twin-validated machine intelligence — reducing downtime, cost and energy for the businesses that need it most.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572000"/>
            <a:ext cx="3474720" cy="109728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736592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2D3EE"/>
                </a:solidFill>
                <a:latin typeface="Century Schoolbook"/>
              </a:rP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17550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DC4"/>
                </a:solidFill>
                <a:latin typeface="Calibri"/>
              </a:rPr>
              <a:t>Interactive dashboard prototype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4572000"/>
            <a:ext cx="3474720" cy="109728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4736592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4D399"/>
                </a:solidFill>
                <a:latin typeface="Century Schoolbook"/>
              </a:rPr>
              <a:t>Full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517550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DC4"/>
                </a:solidFill>
                <a:latin typeface="Calibri"/>
              </a:rPr>
              <a:t>FastAPI + AI engine + web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4572000"/>
            <a:ext cx="3474720" cy="1097280"/>
          </a:xfrm>
          <a:prstGeom prst="roundRect">
            <a:avLst>
              <a:gd name="adj" fmla="val 6000"/>
            </a:avLst>
          </a:prstGeom>
          <a:solidFill>
            <a:srgbClr val="162233"/>
          </a:solidFill>
          <a:ln w="12700">
            <a:solidFill>
              <a:srgbClr val="253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4736592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BBF24"/>
                </a:solidFill>
                <a:latin typeface="Century Schoolbook"/>
              </a:rPr>
              <a:t>Ready to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5175504"/>
            <a:ext cx="301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DC4"/>
                </a:solidFill>
                <a:latin typeface="Calibri"/>
              </a:rPr>
              <a:t>Seeking industry partners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0807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B829C"/>
                </a:solidFill>
                <a:latin typeface="Calibri"/>
              </a:rPr>
              <a:t>Thank you  ·  MachineSense AI  ·  Smart India Hackathon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